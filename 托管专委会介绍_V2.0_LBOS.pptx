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webp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1219200" cy="10287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0"/>
            <a:ext cx="10058400" cy="10287000"/>
          </a:xfrm>
          <a:prstGeom prst="rect">
            <a:avLst/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143000" y="0"/>
            <a:ext cx="762000" cy="762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1143000" y="533400"/>
            <a:ext cx="7848600" cy="1638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700" b="1" kern="0" spc="270" dirty="0">
                <a:solidFill>
                  <a:srgbClr val="FFFFFF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中小学托管</a:t>
            </a:r>
            <a:endParaRPr lang="en-US" sz="4700" dirty="0"/>
          </a:p>
          <a:p>
            <a:pPr marL="0" indent="0" algn="l">
              <a:buNone/>
            </a:pPr>
            <a:r>
              <a:rPr lang="en-US" sz="4700" b="1" kern="0" spc="270" dirty="0">
                <a:solidFill>
                  <a:srgbClr val="FFFFFF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专委会战略升级</a:t>
            </a:r>
            <a:endParaRPr lang="en-US" sz="47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476500"/>
            <a:ext cx="9810750" cy="5524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kern="0" spc="23" dirty="0">
                <a:solidFill>
                  <a:srgbClr val="BFDBFE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学习行为操作系统 · 区域分发网络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8972550"/>
            <a:ext cx="9775031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V2.0 | 2026年5月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7867650"/>
            <a:ext cx="9775031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指导单位：共青团石家庄市委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8305800"/>
            <a:ext cx="9775031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主办单位：石家庄市青年创业者协会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181225"/>
            <a:ext cx="250032" cy="2857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831" y="2124075"/>
            <a:ext cx="2417445" cy="3905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kern="0" spc="23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一、成立背景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952500" y="2828925"/>
            <a:ext cx="7905750" cy="638175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629525" y="2838450"/>
            <a:ext cx="121920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647825" y="3219450"/>
            <a:ext cx="9335453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在"双减"政策深化与教育改革新形势下，中小学课后托管行业站在转型升级的十字路口。专委会以"学习行为操作系统（Learning Behavior OS）"为核心支撑，推动托管行业从"看管服务"向"学习行为系统服务商"全面升级。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43025" y="3646170"/>
            <a:ext cx="7162800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业面临转型升级的迫切需求。为响应国家素质教育号召，推动托管行业从</a:t>
            </a:r>
            <a:r>
              <a:rPr lang="en-US" sz="1800" b="1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"看管服务"</a:t>
            </a:r>
            <a:r>
              <a:rPr lang="en-US" sz="18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向</a:t>
            </a:r>
            <a:r>
              <a:rPr lang="en-US" sz="1800" b="1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"教育赋能"</a:t>
            </a:r>
            <a:r>
              <a:rPr lang="en-US" sz="18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转型，石家庄市青年创业者协会正式成立</a:t>
            </a:r>
            <a:r>
              <a:rPr lang="en-US" sz="180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中小学托管协同发展专委会</a:t>
            </a:r>
            <a:r>
              <a:rPr lang="en-US" sz="18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。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181225"/>
            <a:ext cx="321469" cy="2857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65519" y="2124075"/>
            <a:ext cx="2417445" cy="3905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kern="0" spc="23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二、主管单位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9429750" y="2828925"/>
            <a:ext cx="790575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9429750" y="2833230"/>
            <a:ext cx="7905750" cy="91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17330280" y="2828925"/>
            <a:ext cx="914" cy="20764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429750" y="4900155"/>
            <a:ext cx="7905750" cy="91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467393" y="2828925"/>
            <a:ext cx="914" cy="2076450"/>
          </a:xfrm>
          <a:prstGeom prst="line">
            <a:avLst/>
          </a:prstGeom>
          <a:noFill/>
          <a:ln w="76200">
            <a:solidFill>
              <a:srgbClr val="0B3B60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2022455" y="3067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4380" y="3228975"/>
            <a:ext cx="285750" cy="28575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022455" y="3676650"/>
            <a:ext cx="35123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主管协会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022455" y="4019550"/>
            <a:ext cx="3831908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kern="0" spc="2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2022455" y="4400550"/>
            <a:ext cx="3652838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（共青团石家庄市委指导）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429750" y="5133975"/>
            <a:ext cx="790575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9429750" y="5138280"/>
            <a:ext cx="7905750" cy="91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17330280" y="5133975"/>
            <a:ext cx="914" cy="17716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9429750" y="6900405"/>
            <a:ext cx="7905750" cy="91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9467393" y="5133975"/>
            <a:ext cx="914" cy="1771650"/>
          </a:xfrm>
          <a:prstGeom prst="line">
            <a:avLst/>
          </a:prstGeom>
          <a:noFill/>
          <a:ln w="762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11769185" y="537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5391" y="5534025"/>
            <a:ext cx="357188" cy="28575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769185" y="5981700"/>
            <a:ext cx="414337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战略合作单位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769185" y="6324600"/>
            <a:ext cx="452628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kern="0" spc="2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河北省青少年素质教育研究会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9429750" y="7134225"/>
            <a:ext cx="790575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9429750" y="7138530"/>
            <a:ext cx="7905750" cy="91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17330280" y="7134225"/>
            <a:ext cx="914" cy="20764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9429750" y="9205455"/>
            <a:ext cx="7905750" cy="91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9467393" y="7134225"/>
            <a:ext cx="914" cy="2076450"/>
          </a:xfrm>
          <a:prstGeom prst="line">
            <a:avLst/>
          </a:prstGeom>
          <a:noFill/>
          <a:ln w="762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5" name="Shape 29"/>
          <p:cNvSpPr/>
          <p:nvPr/>
        </p:nvSpPr>
        <p:spPr>
          <a:xfrm>
            <a:off x="12022455" y="73723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8662" y="7534275"/>
            <a:ext cx="357188" cy="28575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2022455" y="7981950"/>
            <a:ext cx="35123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技术支持单位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12022455" y="8324850"/>
            <a:ext cx="3831908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kern="0" spc="2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北京辅立教育科技研究院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12022455" y="8705850"/>
            <a:ext cx="3652838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B981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（教育部APP首批备案单位）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4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5"/>
          <p:cNvSpPr/>
          <p:nvPr/>
        </p:nvSpPr>
        <p:spPr>
          <a:xfrm>
            <a:off x="952500" y="714375"/>
            <a:ext cx="76200" cy="30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36"/>
          <p:cNvSpPr txBox="1"/>
          <p:nvPr/>
        </p:nvSpPr>
        <p:spPr>
          <a:xfrm>
            <a:off x="1181100" y="571500"/>
            <a:ext cx="5657850" cy="5905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kern="0" spc="72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成立背景与主管单位</a:t>
            </a:r>
            <a:endParaRPr lang="en-US" sz="3100" dirty="0"/>
          </a:p>
        </p:txBody>
      </p:sp>
      <p:sp>
        <p:nvSpPr>
          <p:cNvPr id="44" name="Text 37"/>
          <p:cNvSpPr txBox="1"/>
          <p:nvPr/>
        </p:nvSpPr>
        <p:spPr>
          <a:xfrm>
            <a:off x="952500" y="1238250"/>
            <a:ext cx="5536406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顺应政策导向，汇聚多方力量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4499908" y="981075"/>
            <a:ext cx="285464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14551342" y="1285875"/>
            <a:ext cx="280320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中小学托管协同发展专委会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952500" y="9972675"/>
            <a:ext cx="488632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/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16892778" y="9991725"/>
            <a:ext cx="63007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2 / 9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181225"/>
            <a:ext cx="285750" cy="2857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52550" y="2124075"/>
            <a:ext cx="2816066" cy="3905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kern="0" spc="23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952500" y="2752725"/>
            <a:ext cx="39243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190625" y="3552825"/>
            <a:ext cx="4357688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90625" y="3981450"/>
            <a:ext cx="3467100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10075" y="2609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781300"/>
            <a:ext cx="321469" cy="2857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90625" y="2990850"/>
            <a:ext cx="4345781" cy="4095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kern="0" spc="135" dirty="0">
                <a:solidFill>
                  <a:srgbClr val="E67E22">
                    <a:alpha val="3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2300" dirty="0"/>
          </a:p>
        </p:txBody>
      </p:sp>
      <p:sp>
        <p:nvSpPr>
          <p:cNvPr id="11" name="Shape 7"/>
          <p:cNvSpPr/>
          <p:nvPr/>
        </p:nvSpPr>
        <p:spPr>
          <a:xfrm>
            <a:off x="5105400" y="2752725"/>
            <a:ext cx="39243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5343525" y="3552825"/>
            <a:ext cx="4357688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343525" y="3981450"/>
            <a:ext cx="468058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562975" y="2609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375" y="2781300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3525" y="2990850"/>
            <a:ext cx="4345781" cy="4095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kern="0" spc="135" dirty="0">
                <a:solidFill>
                  <a:srgbClr val="E67E22">
                    <a:alpha val="3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2300" dirty="0"/>
          </a:p>
        </p:txBody>
      </p:sp>
      <p:sp>
        <p:nvSpPr>
          <p:cNvPr id="17" name="Shape 12"/>
          <p:cNvSpPr/>
          <p:nvPr/>
        </p:nvSpPr>
        <p:spPr>
          <a:xfrm>
            <a:off x="9258300" y="2752725"/>
            <a:ext cx="39243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9496425" y="3552825"/>
            <a:ext cx="4357688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496425" y="3981450"/>
            <a:ext cx="4507230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2715875" y="2609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275" y="2781300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96425" y="2990850"/>
            <a:ext cx="4345781" cy="4095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kern="0" spc="135" dirty="0">
                <a:solidFill>
                  <a:srgbClr val="E67E22">
                    <a:alpha val="3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2300" dirty="0"/>
          </a:p>
        </p:txBody>
      </p:sp>
      <p:sp>
        <p:nvSpPr>
          <p:cNvPr id="23" name="Shape 17"/>
          <p:cNvSpPr/>
          <p:nvPr/>
        </p:nvSpPr>
        <p:spPr>
          <a:xfrm>
            <a:off x="13411200" y="2752725"/>
            <a:ext cx="39243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 txBox="1"/>
          <p:nvPr/>
        </p:nvSpPr>
        <p:spPr>
          <a:xfrm>
            <a:off x="13649325" y="3552825"/>
            <a:ext cx="4357688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3649325" y="3981450"/>
            <a:ext cx="4507230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16868775" y="2609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21175" y="2781300"/>
            <a:ext cx="357188" cy="28575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649325" y="2990850"/>
            <a:ext cx="4345781" cy="4095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kern="0" spc="135" dirty="0">
                <a:solidFill>
                  <a:srgbClr val="E67E22">
                    <a:alpha val="3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23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191125"/>
            <a:ext cx="357188" cy="28575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23988" y="5133975"/>
            <a:ext cx="4642009" cy="3905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kern="0" spc="23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900" dirty="0"/>
          </a:p>
        </p:txBody>
      </p:sp>
      <p:sp>
        <p:nvSpPr>
          <p:cNvPr id="31" name="Shape 23"/>
          <p:cNvSpPr/>
          <p:nvPr/>
        </p:nvSpPr>
        <p:spPr>
          <a:xfrm>
            <a:off x="952500" y="5762625"/>
            <a:ext cx="16383000" cy="3152775"/>
          </a:xfrm>
          <a:prstGeom prst="roundRect">
            <a:avLst>
              <a:gd name="adj" fmla="val 4834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4"/>
          <p:cNvSpPr txBox="1"/>
          <p:nvPr/>
        </p:nvSpPr>
        <p:spPr>
          <a:xfrm>
            <a:off x="1257300" y="6067425"/>
            <a:ext cx="19847718" cy="5810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4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2100" dirty="0"/>
          </a:p>
        </p:txBody>
      </p:sp>
      <p:sp>
        <p:nvSpPr>
          <p:cNvPr id="33" name="Shape 25"/>
          <p:cNvSpPr/>
          <p:nvPr/>
        </p:nvSpPr>
        <p:spPr>
          <a:xfrm>
            <a:off x="1257300" y="6991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550" y="7105650"/>
            <a:ext cx="190500" cy="1524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790700" y="6953250"/>
            <a:ext cx="4048125" cy="2952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6" dirty="0">
                <a:solidFill>
                  <a:srgbClr val="FFFFFF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1790700" y="7324725"/>
            <a:ext cx="4359116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9372600" y="6991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7105650"/>
            <a:ext cx="152400" cy="1524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906000" y="6953250"/>
            <a:ext cx="4321969" cy="2952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6" dirty="0">
                <a:solidFill>
                  <a:srgbClr val="FFFFFF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9906000" y="7324725"/>
            <a:ext cx="465486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1257300" y="7972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2550" y="8086725"/>
            <a:ext cx="190500" cy="1524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790700" y="7934325"/>
            <a:ext cx="3131343" cy="2952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6" dirty="0">
                <a:solidFill>
                  <a:srgbClr val="FFFFFF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1790700" y="8305800"/>
            <a:ext cx="336899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9372600" y="7972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5950" y="8086725"/>
            <a:ext cx="114300" cy="15240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906000" y="7934325"/>
            <a:ext cx="3845718" cy="2952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6" dirty="0">
                <a:solidFill>
                  <a:srgbClr val="FFFFFF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48" name="Text 36"/>
          <p:cNvSpPr txBox="1"/>
          <p:nvPr/>
        </p:nvSpPr>
        <p:spPr>
          <a:xfrm>
            <a:off x="9906000" y="8305800"/>
            <a:ext cx="414051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300" dirty="0"/>
          </a:p>
        </p:txBody>
      </p:sp>
      <p:sp>
        <p:nvSpPr>
          <p:cNvPr id="49" name="Shape 37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38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39"/>
          <p:cNvSpPr/>
          <p:nvPr/>
        </p:nvSpPr>
        <p:spPr>
          <a:xfrm>
            <a:off x="952500" y="714375"/>
            <a:ext cx="76200" cy="30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40"/>
          <p:cNvSpPr txBox="1"/>
          <p:nvPr/>
        </p:nvSpPr>
        <p:spPr>
          <a:xfrm>
            <a:off x="1181100" y="571500"/>
            <a:ext cx="6287929" cy="5905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kern="0" spc="72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3100" dirty="0"/>
          </a:p>
        </p:txBody>
      </p:sp>
      <p:sp>
        <p:nvSpPr>
          <p:cNvPr id="53" name="Text 41"/>
          <p:cNvSpPr txBox="1"/>
          <p:nvPr/>
        </p:nvSpPr>
        <p:spPr>
          <a:xfrm>
            <a:off x="952500" y="1238250"/>
            <a:ext cx="6364605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500" dirty="0"/>
          </a:p>
        </p:txBody>
      </p:sp>
      <p:sp>
        <p:nvSpPr>
          <p:cNvPr id="54" name="Text 42"/>
          <p:cNvSpPr txBox="1"/>
          <p:nvPr/>
        </p:nvSpPr>
        <p:spPr>
          <a:xfrm>
            <a:off x="14499908" y="981075"/>
            <a:ext cx="285464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300" dirty="0"/>
          </a:p>
        </p:txBody>
      </p:sp>
      <p:sp>
        <p:nvSpPr>
          <p:cNvPr id="55" name="Text 43"/>
          <p:cNvSpPr txBox="1"/>
          <p:nvPr/>
        </p:nvSpPr>
        <p:spPr>
          <a:xfrm>
            <a:off x="14551342" y="1285875"/>
            <a:ext cx="280320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100" dirty="0"/>
          </a:p>
        </p:txBody>
      </p:sp>
      <p:sp>
        <p:nvSpPr>
          <p:cNvPr id="56" name="Text 44"/>
          <p:cNvSpPr txBox="1"/>
          <p:nvPr/>
        </p:nvSpPr>
        <p:spPr>
          <a:xfrm>
            <a:off x="952500" y="9677400"/>
            <a:ext cx="488632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节点标识认证+区域行为数据网络+联合品牌推广</a:t>
            </a:r>
            <a:endParaRPr lang="en-US" sz="1100" dirty="0"/>
          </a:p>
        </p:txBody>
      </p:sp>
      <p:sp>
        <p:nvSpPr>
          <p:cNvPr id="57" name="Text 45"/>
          <p:cNvSpPr txBox="1"/>
          <p:nvPr/>
        </p:nvSpPr>
        <p:spPr>
          <a:xfrm>
            <a:off x="16891540" y="9696450"/>
            <a:ext cx="64293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节点标识认证+区域行为数据网络+联合品牌推广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500" y="2124075"/>
            <a:ext cx="8039100" cy="6562725"/>
          </a:xfrm>
          <a:prstGeom prst="roundRect">
            <a:avLst>
              <a:gd name="adj" fmla="val 23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2025" y="2133600"/>
            <a:ext cx="8020050" cy="914400"/>
          </a:xfrm>
          <a:prstGeom prst="rect">
            <a:avLst/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266825" y="2381250"/>
            <a:ext cx="398622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4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2.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60208" y="2381250"/>
            <a:ext cx="2558892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4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资源整合平台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66825" y="3900488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937" y="4052888"/>
            <a:ext cx="257175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028825" y="3900488"/>
            <a:ext cx="4048125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kern="0" spc="39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教育资源整合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2028825" y="4291012"/>
            <a:ext cx="4346257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期末冲刺+暑期营+正课产品矩阵对接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66825" y="4957763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5110163"/>
            <a:ext cx="200025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28825" y="4957763"/>
            <a:ext cx="4619625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kern="0" spc="39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专家智库支持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028825" y="5348287"/>
            <a:ext cx="4963477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行为训练专家+数据运营专家+归因控制专家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66825" y="6015038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6167438"/>
            <a:ext cx="257175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28825" y="6015038"/>
            <a:ext cx="4333875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kern="0" spc="39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政策信息通道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2028825" y="6405562"/>
            <a:ext cx="4654867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OS部署经验+节点运营数据+增长案例分享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1266825" y="7072313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650" y="7224713"/>
            <a:ext cx="28575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028825" y="7072313"/>
            <a:ext cx="3762375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kern="0" spc="39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同业交流网络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2028825" y="7462837"/>
            <a:ext cx="4037647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节点间数据对标+联合招生+社会场扩散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9296400" y="2124075"/>
            <a:ext cx="8039100" cy="6562725"/>
          </a:xfrm>
          <a:prstGeom prst="roundRect">
            <a:avLst>
              <a:gd name="adj" fmla="val 23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9305925" y="2133600"/>
            <a:ext cx="802005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9610725" y="2381250"/>
            <a:ext cx="398622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4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3.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10004108" y="2381250"/>
            <a:ext cx="2558892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4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标准体系建设</a:t>
            </a:r>
            <a:endParaRPr lang="en-US" sz="2100" dirty="0"/>
          </a:p>
        </p:txBody>
      </p:sp>
      <p:sp>
        <p:nvSpPr>
          <p:cNvPr id="27" name="Shape 21"/>
          <p:cNvSpPr/>
          <p:nvPr/>
        </p:nvSpPr>
        <p:spPr>
          <a:xfrm>
            <a:off x="9610725" y="3900488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837" y="4052888"/>
            <a:ext cx="257175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372725" y="3900488"/>
            <a:ext cx="3190875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kern="0" spc="39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服务质量标准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10372725" y="4291012"/>
            <a:ext cx="3420427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OS部署标准+数据采集标准+干预执行标准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9610725" y="4957763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125" y="5110163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372725" y="4957763"/>
            <a:ext cx="2893219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kern="0" spc="39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教育赋能标准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10372725" y="5348287"/>
            <a:ext cx="3111817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LBOS五层架构标准（理论/原则/机制/执行/数据）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9610725" y="6015038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8837" y="6167438"/>
            <a:ext cx="257175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372725" y="6015038"/>
            <a:ext cx="2893219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kern="0" spc="39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师资认证标准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10372725" y="6405562"/>
            <a:ext cx="3111817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LBOS系统运维教练认证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9610725" y="7072313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8837" y="7224713"/>
            <a:ext cx="257175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372725" y="7072313"/>
            <a:ext cx="2893219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kern="0" spc="39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数据评估标准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10372725" y="7462837"/>
            <a:ext cx="3111817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诊断→干预→验证闭环评估标准</a:t>
            </a:r>
            <a:endParaRPr lang="en-US" sz="1500" dirty="0"/>
          </a:p>
        </p:txBody>
      </p:sp>
      <p:sp>
        <p:nvSpPr>
          <p:cNvPr id="43" name="Shape 33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34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35"/>
          <p:cNvSpPr/>
          <p:nvPr/>
        </p:nvSpPr>
        <p:spPr>
          <a:xfrm>
            <a:off x="952500" y="714375"/>
            <a:ext cx="76200" cy="30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36"/>
          <p:cNvSpPr txBox="1"/>
          <p:nvPr/>
        </p:nvSpPr>
        <p:spPr>
          <a:xfrm>
            <a:off x="1181100" y="571500"/>
            <a:ext cx="3767613" cy="5905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kern="0" spc="72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核心职能拓展</a:t>
            </a:r>
            <a:endParaRPr lang="en-US" sz="3100" dirty="0"/>
          </a:p>
        </p:txBody>
      </p:sp>
      <p:sp>
        <p:nvSpPr>
          <p:cNvPr id="47" name="Text 37"/>
          <p:cNvSpPr txBox="1"/>
          <p:nvPr/>
        </p:nvSpPr>
        <p:spPr>
          <a:xfrm>
            <a:off x="952500" y="1238250"/>
            <a:ext cx="4822031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打造平台资源，建立行业规范标准</a:t>
            </a:r>
            <a:endParaRPr lang="en-US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14499908" y="981075"/>
            <a:ext cx="285464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</a:t>
            </a:r>
            <a:endParaRPr lang="en-US" sz="1300" dirty="0"/>
          </a:p>
        </p:txBody>
      </p:sp>
      <p:sp>
        <p:nvSpPr>
          <p:cNvPr id="49" name="Text 39"/>
          <p:cNvSpPr txBox="1"/>
          <p:nvPr/>
        </p:nvSpPr>
        <p:spPr>
          <a:xfrm>
            <a:off x="14551342" y="1285875"/>
            <a:ext cx="280320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中小学托管协同发展专委会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952500" y="9639300"/>
            <a:ext cx="488632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/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16883253" y="9658350"/>
            <a:ext cx="64293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4 / 9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500" y="2124075"/>
            <a:ext cx="8001286" cy="6562725"/>
          </a:xfrm>
          <a:prstGeom prst="roundRect">
            <a:avLst>
              <a:gd name="adj" fmla="val 23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2581275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38325" y="2514600"/>
            <a:ext cx="2867502" cy="4667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kern="0" spc="27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基础会员权益</a:t>
            </a:r>
            <a:endParaRPr lang="en-US" sz="2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3352800"/>
            <a:ext cx="190500" cy="1905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7825" y="3295650"/>
            <a:ext cx="747093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协会认证：</a:t>
            </a:r>
            <a:r>
              <a:rPr lang="en-US" sz="15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获得石家庄市青年创业者协会会员单位证书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3943350"/>
            <a:ext cx="190500" cy="1905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647825" y="3886200"/>
            <a:ext cx="8653939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品牌授权：</a:t>
            </a:r>
            <a:r>
              <a:rPr lang="en-US" sz="15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授权使用"中小学托管协同发展专委会会员单位"标识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4533900"/>
            <a:ext cx="190500" cy="1905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647825" y="4476750"/>
            <a:ext cx="654510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资源对接：</a:t>
            </a:r>
            <a:r>
              <a:rPr lang="en-US" sz="15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优先对接专委会整合的优质教育资源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5124450"/>
            <a:ext cx="190500" cy="1905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647825" y="5067300"/>
            <a:ext cx="747093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培训参与：</a:t>
            </a:r>
            <a:r>
              <a:rPr lang="en-US" sz="15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免费参加专委会组织的行业培训与交流活动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5715000"/>
            <a:ext cx="190500" cy="1905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647825" y="5657850"/>
            <a:ext cx="777954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信息共享：</a:t>
            </a:r>
            <a:r>
              <a:rPr lang="en-US" sz="15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获取行业政策解读、市场动态、运营经验分享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962025" y="2133600"/>
            <a:ext cx="76200" cy="6543675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9"/>
          <p:cNvSpPr/>
          <p:nvPr/>
        </p:nvSpPr>
        <p:spPr>
          <a:xfrm>
            <a:off x="9334500" y="2124075"/>
            <a:ext cx="8000715" cy="6562725"/>
          </a:xfrm>
          <a:prstGeom prst="roundRect">
            <a:avLst>
              <a:gd name="adj" fmla="val 2322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0"/>
          <p:cNvSpPr/>
          <p:nvPr/>
        </p:nvSpPr>
        <p:spPr>
          <a:xfrm>
            <a:off x="16116015" y="2124075"/>
            <a:ext cx="1219200" cy="1219200"/>
          </a:xfrm>
          <a:prstGeom prst="rect">
            <a:avLst/>
          </a:prstGeom>
          <a:solidFill>
            <a:srgbClr val="E67E22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571750"/>
            <a:ext cx="385763" cy="3429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0253663" y="2505075"/>
            <a:ext cx="2867502" cy="4667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kern="0" spc="27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核心赋能权益</a:t>
            </a:r>
            <a:endParaRPr lang="en-US" sz="23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3343275"/>
            <a:ext cx="200025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0067925" y="3286125"/>
            <a:ext cx="7728109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产品接入：</a:t>
            </a:r>
            <a:r>
              <a:rPr lang="en-US" sz="15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接入「学习行为操作系统（LBOS）」全体系</a:t>
            </a:r>
            <a:endParaRPr lang="en-US" sz="15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3933825"/>
            <a:ext cx="200025" cy="22860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0067925" y="3876675"/>
            <a:ext cx="654510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技术系统：</a:t>
            </a:r>
            <a:r>
              <a:rPr lang="en-US" sz="15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获得行为数据采集+诊断+干预完整系统</a:t>
            </a:r>
            <a:endParaRPr lang="en-US" sz="15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4524375"/>
            <a:ext cx="200025" cy="2286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0067925" y="4467225"/>
            <a:ext cx="685371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师资培训：</a:t>
            </a:r>
            <a:r>
              <a:rPr lang="en-US" sz="15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机构老师接受LBOS系统认证培训</a:t>
            </a:r>
            <a:endParaRPr lang="en-US" sz="15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5114925"/>
            <a:ext cx="200025" cy="22860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10067925" y="5057775"/>
            <a:ext cx="747093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运营支持：</a:t>
            </a:r>
            <a:r>
              <a:rPr lang="en-US" sz="15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获赠期末冲刺+暑期营+正课全场景运营包</a:t>
            </a:r>
            <a:endParaRPr lang="en-US" sz="15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5705475"/>
            <a:ext cx="200025" cy="22860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10067925" y="5648325"/>
            <a:ext cx="716232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数据服务：</a:t>
            </a:r>
            <a:r>
              <a:rPr lang="en-US" sz="15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接入区域行为数据库，获得跨机构数据对标</a:t>
            </a:r>
            <a:endParaRPr lang="en-US" sz="1500" dirty="0"/>
          </a:p>
        </p:txBody>
      </p:sp>
      <p:sp>
        <p:nvSpPr>
          <p:cNvPr id="31" name="Shape 17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18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19"/>
          <p:cNvSpPr/>
          <p:nvPr/>
        </p:nvSpPr>
        <p:spPr>
          <a:xfrm>
            <a:off x="952500" y="714375"/>
            <a:ext cx="76200" cy="30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20"/>
          <p:cNvSpPr txBox="1"/>
          <p:nvPr/>
        </p:nvSpPr>
        <p:spPr>
          <a:xfrm>
            <a:off x="1181100" y="571500"/>
            <a:ext cx="5027772" cy="5905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kern="0" spc="72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五、会员权益体系</a:t>
            </a:r>
            <a:endParaRPr lang="en-US" sz="3100" dirty="0"/>
          </a:p>
        </p:txBody>
      </p:sp>
      <p:sp>
        <p:nvSpPr>
          <p:cNvPr id="35" name="Text 21"/>
          <p:cNvSpPr txBox="1"/>
          <p:nvPr/>
        </p:nvSpPr>
        <p:spPr>
          <a:xfrm>
            <a:off x="952500" y="1238250"/>
            <a:ext cx="5464968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全方位支持，助力托管机构多维度成长</a:t>
            </a:r>
            <a:endParaRPr lang="en-US" sz="1500" dirty="0"/>
          </a:p>
        </p:txBody>
      </p:sp>
      <p:sp>
        <p:nvSpPr>
          <p:cNvPr id="36" name="Text 22"/>
          <p:cNvSpPr txBox="1"/>
          <p:nvPr/>
        </p:nvSpPr>
        <p:spPr>
          <a:xfrm>
            <a:off x="14499908" y="981075"/>
            <a:ext cx="285464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</a:t>
            </a:r>
            <a:endParaRPr lang="en-US" sz="1300" dirty="0"/>
          </a:p>
        </p:txBody>
      </p:sp>
      <p:sp>
        <p:nvSpPr>
          <p:cNvPr id="37" name="Text 23"/>
          <p:cNvSpPr txBox="1"/>
          <p:nvPr/>
        </p:nvSpPr>
        <p:spPr>
          <a:xfrm>
            <a:off x="14551342" y="1285875"/>
            <a:ext cx="280320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中小学托管协同发展专委会</a:t>
            </a:r>
            <a:endParaRPr lang="en-US" sz="1100" dirty="0"/>
          </a:p>
        </p:txBody>
      </p:sp>
      <p:sp>
        <p:nvSpPr>
          <p:cNvPr id="38" name="Text 24"/>
          <p:cNvSpPr txBox="1"/>
          <p:nvPr/>
        </p:nvSpPr>
        <p:spPr>
          <a:xfrm>
            <a:off x="952500" y="9639300"/>
            <a:ext cx="488632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/>
            </a:r>
            <a:endParaRPr lang="en-US" sz="1100" dirty="0"/>
          </a:p>
        </p:txBody>
      </p:sp>
      <p:sp>
        <p:nvSpPr>
          <p:cNvPr id="39" name="Text 25"/>
          <p:cNvSpPr txBox="1"/>
          <p:nvPr/>
        </p:nvSpPr>
        <p:spPr>
          <a:xfrm>
            <a:off x="16884586" y="9658350"/>
            <a:ext cx="64293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5 / 9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500" y="2124075"/>
            <a:ext cx="5095875" cy="619125"/>
          </a:xfrm>
          <a:prstGeom prst="roundRect">
            <a:avLst>
              <a:gd name="adj" fmla="val 1846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15516" y="2124075"/>
            <a:ext cx="6369844" cy="6191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kern="0" spc="18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第一阶段：试学合作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52500" y="2743200"/>
            <a:ext cx="5037106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84386" y="2743200"/>
            <a:ext cx="914" cy="59436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500" y="8681580"/>
            <a:ext cx="5037106" cy="91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56806" y="2743200"/>
            <a:ext cx="914" cy="59436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42356" y="3048000"/>
            <a:ext cx="1266825" cy="45720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652332" y="3048000"/>
            <a:ext cx="1646873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零风险启动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66825" y="3733800"/>
            <a:ext cx="4408456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266825" y="4557255"/>
            <a:ext cx="44084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266825" y="3733800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合作内容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66825" y="4067175"/>
            <a:ext cx="3227546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「学习行为OS」产品矩阵全接入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66825" y="4791075"/>
            <a:ext cx="4408456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266825" y="5595480"/>
            <a:ext cx="44084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266825" y="4791075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机构投入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66825" y="5153025"/>
            <a:ext cx="397335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无需研发，直接复制已验证的OS+SOP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66825" y="5829300"/>
            <a:ext cx="4408456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266825" y="6633705"/>
            <a:ext cx="44084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266825" y="5829300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收入分配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66825" y="6191250"/>
            <a:ext cx="4243388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机构获得：期末冲刺+暑期营+正课三级产品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6825" y="6867525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风险承担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66825" y="7229475"/>
            <a:ext cx="3446145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我方承担系统搭建+教练培训+运营support</a:t>
            </a:r>
            <a:endParaRPr lang="en-US" sz="13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8206" y="5262562"/>
            <a:ext cx="178594" cy="285750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1105" y="5262562"/>
            <a:ext cx="178594" cy="28575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625400" y="2124075"/>
            <a:ext cx="5095875" cy="619125"/>
          </a:xfrm>
          <a:prstGeom prst="roundRect">
            <a:avLst>
              <a:gd name="adj" fmla="val 18462"/>
            </a:avLst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5988415" y="2124075"/>
            <a:ext cx="6369844" cy="6191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kern="0" spc="18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第二阶段：正课转化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629400" y="2743200"/>
            <a:ext cx="5037106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11661286" y="2743200"/>
            <a:ext cx="914" cy="59436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6629400" y="8667293"/>
            <a:ext cx="5037106" cy="914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6633705" y="2743200"/>
            <a:ext cx="914" cy="59436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8614410" y="3048000"/>
            <a:ext cx="1076325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 txBox="1"/>
          <p:nvPr/>
        </p:nvSpPr>
        <p:spPr>
          <a:xfrm>
            <a:off x="8452961" y="3048000"/>
            <a:ext cx="1399222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增收共享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943725" y="3733800"/>
            <a:ext cx="4408456" cy="113347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943725" y="4862055"/>
            <a:ext cx="44084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 txBox="1"/>
          <p:nvPr/>
        </p:nvSpPr>
        <p:spPr>
          <a:xfrm>
            <a:off x="6943725" y="3733800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合作内容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6943725" y="4067175"/>
            <a:ext cx="2828925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试学转化月收费客户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6943725" y="4438650"/>
            <a:ext cx="24431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（增收500元/月/学生）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943725" y="5095875"/>
            <a:ext cx="4408456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7"/>
          <p:cNvSpPr/>
          <p:nvPr/>
        </p:nvSpPr>
        <p:spPr>
          <a:xfrm>
            <a:off x="6943725" y="5919330"/>
            <a:ext cx="44084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 txBox="1"/>
          <p:nvPr/>
        </p:nvSpPr>
        <p:spPr>
          <a:xfrm>
            <a:off x="6943725" y="5095875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收入分配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6943725" y="5429250"/>
            <a:ext cx="4204811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冲刺299+暑期299~2580+正课459三级转化</a:t>
            </a:r>
            <a:endParaRPr lang="en-US" sz="1500" dirty="0"/>
          </a:p>
        </p:txBody>
      </p:sp>
      <p:sp>
        <p:nvSpPr>
          <p:cNvPr id="44" name="Shape 40"/>
          <p:cNvSpPr/>
          <p:nvPr/>
        </p:nvSpPr>
        <p:spPr>
          <a:xfrm>
            <a:off x="6943725" y="6153150"/>
            <a:ext cx="4408456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1"/>
          <p:cNvSpPr/>
          <p:nvPr/>
        </p:nvSpPr>
        <p:spPr>
          <a:xfrm>
            <a:off x="6943725" y="6957556"/>
            <a:ext cx="44084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 txBox="1"/>
          <p:nvPr/>
        </p:nvSpPr>
        <p:spPr>
          <a:xfrm>
            <a:off x="6943725" y="6153150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风险保障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6943725" y="6515100"/>
            <a:ext cx="318897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客户在三级产品间自然流转，无需额外获客</a:t>
            </a:r>
            <a:endParaRPr lang="en-US" sz="1300" dirty="0"/>
          </a:p>
        </p:txBody>
      </p:sp>
      <p:sp>
        <p:nvSpPr>
          <p:cNvPr id="48" name="Text 44"/>
          <p:cNvSpPr txBox="1"/>
          <p:nvPr/>
        </p:nvSpPr>
        <p:spPr>
          <a:xfrm>
            <a:off x="6943725" y="7191375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机构收益</a:t>
            </a:r>
            <a:endParaRPr lang="en-US" sz="1300" dirty="0"/>
          </a:p>
        </p:txBody>
      </p:sp>
      <p:sp>
        <p:nvSpPr>
          <p:cNvPr id="49" name="Text 45"/>
          <p:cNvSpPr txBox="1"/>
          <p:nvPr/>
        </p:nvSpPr>
        <p:spPr>
          <a:xfrm>
            <a:off x="6943725" y="7553325"/>
            <a:ext cx="2378868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零风险启动，机构第一月即可增收</a:t>
            </a:r>
            <a:endParaRPr lang="en-US" sz="1300" dirty="0"/>
          </a:p>
        </p:txBody>
      </p:sp>
      <p:sp>
        <p:nvSpPr>
          <p:cNvPr id="50" name="Shape 46"/>
          <p:cNvSpPr/>
          <p:nvPr/>
        </p:nvSpPr>
        <p:spPr>
          <a:xfrm>
            <a:off x="12298299" y="2124075"/>
            <a:ext cx="5095875" cy="619125"/>
          </a:xfrm>
          <a:prstGeom prst="roundRect">
            <a:avLst>
              <a:gd name="adj" fmla="val 18462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 txBox="1"/>
          <p:nvPr/>
        </p:nvSpPr>
        <p:spPr>
          <a:xfrm>
            <a:off x="11661314" y="2124075"/>
            <a:ext cx="6369844" cy="6191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kern="0" spc="18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第三阶段：深度赋能</a:t>
            </a:r>
            <a:endParaRPr lang="en-US" sz="1500" dirty="0"/>
          </a:p>
        </p:txBody>
      </p:sp>
      <p:sp>
        <p:nvSpPr>
          <p:cNvPr id="52" name="Shape 48"/>
          <p:cNvSpPr/>
          <p:nvPr/>
        </p:nvSpPr>
        <p:spPr>
          <a:xfrm>
            <a:off x="12296775" y="2743200"/>
            <a:ext cx="5037106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49"/>
          <p:cNvSpPr/>
          <p:nvPr/>
        </p:nvSpPr>
        <p:spPr>
          <a:xfrm>
            <a:off x="17328661" y="2743200"/>
            <a:ext cx="914" cy="5943600"/>
          </a:xfrm>
          <a:prstGeom prst="line">
            <a:avLst/>
          </a:prstGeom>
          <a:noFill/>
          <a:ln w="9525">
            <a:solidFill>
              <a:srgbClr val="0B3B60"/>
            </a:solidFill>
            <a:prstDash val="solid"/>
          </a:ln>
        </p:spPr>
        <p:txBody>
          <a:bodyPr/>
          <a:p/>
        </p:txBody>
      </p:sp>
      <p:sp>
        <p:nvSpPr>
          <p:cNvPr id="54" name="Shape 50"/>
          <p:cNvSpPr/>
          <p:nvPr/>
        </p:nvSpPr>
        <p:spPr>
          <a:xfrm>
            <a:off x="12296775" y="8648243"/>
            <a:ext cx="5037106" cy="914"/>
          </a:xfrm>
          <a:prstGeom prst="line">
            <a:avLst/>
          </a:prstGeom>
          <a:noFill/>
          <a:ln w="76200">
            <a:solidFill>
              <a:srgbClr val="0B3B60"/>
            </a:solidFill>
            <a:prstDash val="solid"/>
          </a:ln>
        </p:spPr>
        <p:txBody>
          <a:bodyPr/>
          <a:p/>
        </p:txBody>
      </p:sp>
      <p:sp>
        <p:nvSpPr>
          <p:cNvPr id="55" name="Shape 51"/>
          <p:cNvSpPr/>
          <p:nvPr/>
        </p:nvSpPr>
        <p:spPr>
          <a:xfrm>
            <a:off x="12301081" y="2743200"/>
            <a:ext cx="914" cy="5943600"/>
          </a:xfrm>
          <a:prstGeom prst="line">
            <a:avLst/>
          </a:prstGeom>
          <a:noFill/>
          <a:ln w="9525">
            <a:solidFill>
              <a:srgbClr val="0B3B60"/>
            </a:solidFill>
            <a:prstDash val="solid"/>
          </a:ln>
        </p:spPr>
        <p:txBody>
          <a:bodyPr/>
          <a:p/>
        </p:txBody>
      </p:sp>
      <p:sp>
        <p:nvSpPr>
          <p:cNvPr id="56" name="Shape 52"/>
          <p:cNvSpPr/>
          <p:nvPr/>
        </p:nvSpPr>
        <p:spPr>
          <a:xfrm>
            <a:off x="14281785" y="3048000"/>
            <a:ext cx="1076325" cy="4572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3"/>
          <p:cNvSpPr txBox="1"/>
          <p:nvPr/>
        </p:nvSpPr>
        <p:spPr>
          <a:xfrm>
            <a:off x="14120336" y="3048000"/>
            <a:ext cx="1399222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持续增收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12611100" y="3733800"/>
            <a:ext cx="4408456" cy="77152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Shape 55"/>
          <p:cNvSpPr/>
          <p:nvPr/>
        </p:nvSpPr>
        <p:spPr>
          <a:xfrm>
            <a:off x="12611100" y="4500105"/>
            <a:ext cx="44084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60" name="Text 56"/>
          <p:cNvSpPr txBox="1"/>
          <p:nvPr/>
        </p:nvSpPr>
        <p:spPr>
          <a:xfrm>
            <a:off x="12611100" y="3733800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合作内容</a:t>
            </a:r>
            <a:endParaRPr lang="en-US" sz="1300" dirty="0"/>
          </a:p>
        </p:txBody>
      </p:sp>
      <p:sp>
        <p:nvSpPr>
          <p:cNvPr id="61" name="Text 57"/>
          <p:cNvSpPr txBox="1"/>
          <p:nvPr/>
        </p:nvSpPr>
        <p:spPr>
          <a:xfrm>
            <a:off x="12611100" y="4095750"/>
            <a:ext cx="4551998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提供完整课程体系+教学系统+师资培训</a:t>
            </a:r>
            <a:endParaRPr lang="en-US" sz="1300" dirty="0"/>
          </a:p>
        </p:txBody>
      </p:sp>
      <p:sp>
        <p:nvSpPr>
          <p:cNvPr id="62" name="Shape 58"/>
          <p:cNvSpPr/>
          <p:nvPr/>
        </p:nvSpPr>
        <p:spPr>
          <a:xfrm>
            <a:off x="12496800" y="4695825"/>
            <a:ext cx="4637056" cy="1190625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Shape 59"/>
          <p:cNvSpPr/>
          <p:nvPr/>
        </p:nvSpPr>
        <p:spPr>
          <a:xfrm>
            <a:off x="12496800" y="5881230"/>
            <a:ext cx="46370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64" name="Text 60"/>
          <p:cNvSpPr txBox="1"/>
          <p:nvPr/>
        </p:nvSpPr>
        <p:spPr>
          <a:xfrm>
            <a:off x="12611100" y="4810125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收入分配 (增收500元中)</a:t>
            </a:r>
            <a:endParaRPr lang="en-US" sz="1300" dirty="0"/>
          </a:p>
        </p:txBody>
      </p:sp>
      <p:sp>
        <p:nvSpPr>
          <p:cNvPr id="65" name="Text 61"/>
          <p:cNvSpPr txBox="1"/>
          <p:nvPr/>
        </p:nvSpPr>
        <p:spPr>
          <a:xfrm>
            <a:off x="12611100" y="5153025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7E22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我方20%（100元）</a:t>
            </a:r>
            <a:endParaRPr lang="en-US" sz="1500" dirty="0"/>
          </a:p>
        </p:txBody>
      </p:sp>
      <p:sp>
        <p:nvSpPr>
          <p:cNvPr id="66" name="Text 62"/>
          <p:cNvSpPr txBox="1"/>
          <p:nvPr/>
        </p:nvSpPr>
        <p:spPr>
          <a:xfrm>
            <a:off x="12611100" y="5457825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机构80%（400元）</a:t>
            </a:r>
            <a:endParaRPr lang="en-US" sz="1500" dirty="0"/>
          </a:p>
        </p:txBody>
      </p:sp>
      <p:sp>
        <p:nvSpPr>
          <p:cNvPr id="67" name="Shape 63"/>
          <p:cNvSpPr/>
          <p:nvPr/>
        </p:nvSpPr>
        <p:spPr>
          <a:xfrm>
            <a:off x="12611100" y="6076950"/>
            <a:ext cx="4408456" cy="77152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Shape 64"/>
          <p:cNvSpPr/>
          <p:nvPr/>
        </p:nvSpPr>
        <p:spPr>
          <a:xfrm>
            <a:off x="12611100" y="6843255"/>
            <a:ext cx="4408456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69" name="Text 65"/>
          <p:cNvSpPr txBox="1"/>
          <p:nvPr/>
        </p:nvSpPr>
        <p:spPr>
          <a:xfrm>
            <a:off x="12611100" y="6076950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赋能内容</a:t>
            </a:r>
            <a:endParaRPr lang="en-US" sz="1300" dirty="0"/>
          </a:p>
        </p:txBody>
      </p:sp>
      <p:sp>
        <p:nvSpPr>
          <p:cNvPr id="70" name="Text 66"/>
          <p:cNvSpPr txBox="1"/>
          <p:nvPr/>
        </p:nvSpPr>
        <p:spPr>
          <a:xfrm>
            <a:off x="12611100" y="6438900"/>
            <a:ext cx="5027772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机构获得独立运营能力，老师获得专业认证</a:t>
            </a:r>
            <a:endParaRPr lang="en-US" sz="1300" dirty="0"/>
          </a:p>
        </p:txBody>
      </p:sp>
      <p:sp>
        <p:nvSpPr>
          <p:cNvPr id="71" name="Text 67"/>
          <p:cNvSpPr txBox="1"/>
          <p:nvPr/>
        </p:nvSpPr>
        <p:spPr>
          <a:xfrm>
            <a:off x="12611100" y="7038975"/>
            <a:ext cx="5548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长期价值</a:t>
            </a:r>
            <a:endParaRPr lang="en-US" sz="1300" dirty="0"/>
          </a:p>
        </p:txBody>
      </p:sp>
      <p:sp>
        <p:nvSpPr>
          <p:cNvPr id="72" name="Text 68"/>
          <p:cNvSpPr txBox="1"/>
          <p:nvPr/>
        </p:nvSpPr>
        <p:spPr>
          <a:xfrm>
            <a:off x="12611100" y="7400925"/>
            <a:ext cx="4757738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机构实现轻资产升级，获得持续增收能力</a:t>
            </a:r>
            <a:endParaRPr lang="en-US" sz="1300" dirty="0"/>
          </a:p>
        </p:txBody>
      </p:sp>
      <p:sp>
        <p:nvSpPr>
          <p:cNvPr id="73" name="Shape 69"/>
          <p:cNvSpPr/>
          <p:nvPr/>
        </p:nvSpPr>
        <p:spPr>
          <a:xfrm>
            <a:off x="17140904" y="1945481"/>
            <a:ext cx="3905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0904" y="1945481"/>
            <a:ext cx="390525" cy="342900"/>
          </a:xfrm>
          <a:prstGeom prst="rect">
            <a:avLst/>
          </a:prstGeom>
        </p:spPr>
      </p:pic>
      <p:sp>
        <p:nvSpPr>
          <p:cNvPr id="75" name="Shape 70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Shape 71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Shape 72"/>
          <p:cNvSpPr/>
          <p:nvPr/>
        </p:nvSpPr>
        <p:spPr>
          <a:xfrm>
            <a:off x="952500" y="714375"/>
            <a:ext cx="76200" cy="30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" name="Text 73"/>
          <p:cNvSpPr txBox="1"/>
          <p:nvPr/>
        </p:nvSpPr>
        <p:spPr>
          <a:xfrm>
            <a:off x="1181100" y="571500"/>
            <a:ext cx="6918008" cy="5905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kern="0" spc="72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六、三阶段合作赋能模型</a:t>
            </a:r>
            <a:endParaRPr lang="en-US" sz="3100" dirty="0"/>
          </a:p>
        </p:txBody>
      </p:sp>
      <p:sp>
        <p:nvSpPr>
          <p:cNvPr id="79" name="Text 74"/>
          <p:cNvSpPr txBox="1"/>
          <p:nvPr/>
        </p:nvSpPr>
        <p:spPr>
          <a:xfrm>
            <a:off x="952500" y="1238250"/>
            <a:ext cx="6983730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循序渐进，零风险启动到持续盈利升级</a:t>
            </a:r>
            <a:endParaRPr lang="en-US" sz="1500" dirty="0"/>
          </a:p>
        </p:txBody>
      </p:sp>
      <p:sp>
        <p:nvSpPr>
          <p:cNvPr id="80" name="Text 75"/>
          <p:cNvSpPr txBox="1"/>
          <p:nvPr/>
        </p:nvSpPr>
        <p:spPr>
          <a:xfrm>
            <a:off x="14499908" y="981075"/>
            <a:ext cx="285464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</a:t>
            </a:r>
            <a:endParaRPr lang="en-US" sz="1300" dirty="0"/>
          </a:p>
        </p:txBody>
      </p:sp>
      <p:sp>
        <p:nvSpPr>
          <p:cNvPr id="81" name="Text 76"/>
          <p:cNvSpPr txBox="1"/>
          <p:nvPr/>
        </p:nvSpPr>
        <p:spPr>
          <a:xfrm>
            <a:off x="14551342" y="1285875"/>
            <a:ext cx="280320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中小学托管协同发展专委会</a:t>
            </a:r>
            <a:endParaRPr lang="en-US" sz="1100" dirty="0"/>
          </a:p>
        </p:txBody>
      </p:sp>
      <p:sp>
        <p:nvSpPr>
          <p:cNvPr id="82" name="Text 77"/>
          <p:cNvSpPr txBox="1"/>
          <p:nvPr/>
        </p:nvSpPr>
        <p:spPr>
          <a:xfrm>
            <a:off x="952500" y="9639300"/>
            <a:ext cx="488632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/>
            </a:r>
            <a:endParaRPr lang="en-US" sz="1100" dirty="0"/>
          </a:p>
        </p:txBody>
      </p:sp>
      <p:sp>
        <p:nvSpPr>
          <p:cNvPr id="83" name="Text 78"/>
          <p:cNvSpPr txBox="1"/>
          <p:nvPr/>
        </p:nvSpPr>
        <p:spPr>
          <a:xfrm>
            <a:off x="16883253" y="9658350"/>
            <a:ext cx="64293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6 / 9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500" y="2124075"/>
            <a:ext cx="5257800" cy="31813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894927" y="1981200"/>
            <a:ext cx="485775" cy="11430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375" dirty="0">
                <a:solidFill>
                  <a:srgbClr val="F8FAFC">
                    <a:alpha val="5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1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190625" y="23622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688" y="2457450"/>
            <a:ext cx="142875" cy="190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85925" y="2366963"/>
            <a:ext cx="1504474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定位困境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90625" y="297180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9525">
            <a:solidFill>
              <a:srgbClr val="FEE2E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3162300"/>
            <a:ext cx="133350" cy="1333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62100" y="3143250"/>
            <a:ext cx="372903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现状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352550" y="336232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"看孩子"→「学习行为系统服务商」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190625" y="421005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9525">
            <a:solidFill>
              <a:srgbClr val="DCFCE7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4400550"/>
            <a:ext cx="133350" cy="1333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62100" y="4381500"/>
            <a:ext cx="552927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升级后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1352550" y="4600575"/>
            <a:ext cx="583215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成为"学习方法训练专家"，专业价值提升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429000" y="38671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0" y="3943350"/>
            <a:ext cx="114300" cy="1524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15100" y="2124075"/>
            <a:ext cx="5257800" cy="31813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3"/>
          <p:cNvSpPr txBox="1"/>
          <p:nvPr/>
        </p:nvSpPr>
        <p:spPr>
          <a:xfrm>
            <a:off x="11301413" y="1981200"/>
            <a:ext cx="638175" cy="11430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375" dirty="0">
                <a:solidFill>
                  <a:srgbClr val="F8FAFC">
                    <a:alpha val="5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2</a:t>
            </a:r>
            <a:endParaRPr lang="en-US" sz="6600" dirty="0"/>
          </a:p>
        </p:txBody>
      </p:sp>
      <p:sp>
        <p:nvSpPr>
          <p:cNvPr id="20" name="Shape 14"/>
          <p:cNvSpPr/>
          <p:nvPr/>
        </p:nvSpPr>
        <p:spPr>
          <a:xfrm>
            <a:off x="6753225" y="23622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663" y="2457450"/>
            <a:ext cx="238125" cy="190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48525" y="2366963"/>
            <a:ext cx="1504474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生源困境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6753225" y="297180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9525">
            <a:solidFill>
              <a:srgbClr val="FEE2E2"/>
            </a:solidFill>
            <a:prstDash val="solid"/>
          </a:ln>
        </p:spPr>
        <p:txBody>
          <a:bodyPr/>
          <a:p/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3162300"/>
            <a:ext cx="133350" cy="13335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24700" y="3143250"/>
            <a:ext cx="372903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现状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6915150" y="336232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低年级为主，4-6年级流失→产品矩阵留住高年级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753225" y="421005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9525">
            <a:solidFill>
              <a:srgbClr val="DCFCE7"/>
            </a:solidFill>
            <a:prstDash val="solid"/>
          </a:ln>
        </p:spPr>
        <p:txBody>
          <a:bodyPr/>
          <a:p/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4400550"/>
            <a:ext cx="133350" cy="13335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124700" y="4381500"/>
            <a:ext cx="552927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升级后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6915150" y="460057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提高中高年级占比，扩展到初中生源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8991600" y="38671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0" y="3943350"/>
            <a:ext cx="114300" cy="15240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12077700" y="2124075"/>
            <a:ext cx="5257800" cy="31813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24"/>
          <p:cNvSpPr txBox="1"/>
          <p:nvPr/>
        </p:nvSpPr>
        <p:spPr>
          <a:xfrm>
            <a:off x="16858202" y="1981200"/>
            <a:ext cx="647700" cy="11430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375" dirty="0">
                <a:solidFill>
                  <a:srgbClr val="F8FAFC">
                    <a:alpha val="5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3</a:t>
            </a:r>
            <a:endParaRPr lang="en-US" sz="6600" dirty="0"/>
          </a:p>
        </p:txBody>
      </p:sp>
      <p:sp>
        <p:nvSpPr>
          <p:cNvPr id="35" name="Shape 25"/>
          <p:cNvSpPr/>
          <p:nvPr/>
        </p:nvSpPr>
        <p:spPr>
          <a:xfrm>
            <a:off x="12315825" y="23622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1075" y="2457450"/>
            <a:ext cx="190500" cy="1905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2811125" y="2366963"/>
            <a:ext cx="1504474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时间困境</a:t>
            </a:r>
            <a:endParaRPr lang="en-US" sz="1800" dirty="0"/>
          </a:p>
        </p:txBody>
      </p:sp>
      <p:sp>
        <p:nvSpPr>
          <p:cNvPr id="38" name="Shape 27"/>
          <p:cNvSpPr/>
          <p:nvPr/>
        </p:nvSpPr>
        <p:spPr>
          <a:xfrm>
            <a:off x="12315825" y="297180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9525">
            <a:solidFill>
              <a:srgbClr val="FEE2E2"/>
            </a:solidFill>
            <a:prstDash val="solid"/>
          </a:ln>
        </p:spPr>
        <p:txBody>
          <a:bodyPr/>
          <a:p/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0" y="3162300"/>
            <a:ext cx="133350" cy="13335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2687300" y="3143250"/>
            <a:ext cx="372903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现状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12477750" y="336232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周六日场地→暑期营+冲刺工坊激活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12315825" y="421005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9525">
            <a:solidFill>
              <a:srgbClr val="DCFCE7"/>
            </a:solidFill>
            <a:prstDash val="solid"/>
          </a:ln>
        </p:spPr>
        <p:txBody>
          <a:bodyPr/>
          <a:p/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0" y="4400550"/>
            <a:ext cx="133350" cy="13335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2687300" y="4381500"/>
            <a:ext cx="552927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升级后</a:t>
            </a:r>
            <a:endParaRPr lang="en-US" sz="900" dirty="0"/>
          </a:p>
        </p:txBody>
      </p:sp>
      <p:sp>
        <p:nvSpPr>
          <p:cNvPr id="45" name="Text 32"/>
          <p:cNvSpPr txBox="1"/>
          <p:nvPr/>
        </p:nvSpPr>
        <p:spPr>
          <a:xfrm>
            <a:off x="12477750" y="460057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引入周末课程，提高场地利用率</a:t>
            </a:r>
            <a:endParaRPr lang="en-US" sz="1300" dirty="0"/>
          </a:p>
        </p:txBody>
      </p:sp>
      <p:sp>
        <p:nvSpPr>
          <p:cNvPr id="46" name="Shape 33"/>
          <p:cNvSpPr/>
          <p:nvPr/>
        </p:nvSpPr>
        <p:spPr>
          <a:xfrm>
            <a:off x="14554200" y="38671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9450" y="3943350"/>
            <a:ext cx="114300" cy="152400"/>
          </a:xfrm>
          <a:prstGeom prst="rect">
            <a:avLst/>
          </a:prstGeom>
        </p:spPr>
      </p:pic>
      <p:sp>
        <p:nvSpPr>
          <p:cNvPr id="48" name="Shape 34"/>
          <p:cNvSpPr/>
          <p:nvPr/>
        </p:nvSpPr>
        <p:spPr>
          <a:xfrm>
            <a:off x="952500" y="5610225"/>
            <a:ext cx="5257800" cy="31813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35"/>
          <p:cNvSpPr txBox="1"/>
          <p:nvPr/>
        </p:nvSpPr>
        <p:spPr>
          <a:xfrm>
            <a:off x="5691187" y="5467350"/>
            <a:ext cx="685800" cy="11430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375" dirty="0">
                <a:solidFill>
                  <a:srgbClr val="F8FAFC">
                    <a:alpha val="5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4</a:t>
            </a:r>
            <a:endParaRPr lang="en-US" sz="6600" dirty="0"/>
          </a:p>
        </p:txBody>
      </p:sp>
      <p:sp>
        <p:nvSpPr>
          <p:cNvPr id="50" name="Shape 36"/>
          <p:cNvSpPr/>
          <p:nvPr/>
        </p:nvSpPr>
        <p:spPr>
          <a:xfrm>
            <a:off x="1190625" y="58483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781" y="5943600"/>
            <a:ext cx="166688" cy="19050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1685925" y="5853113"/>
            <a:ext cx="1504474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产品困境</a:t>
            </a:r>
            <a:endParaRPr lang="en-US" sz="1800" dirty="0"/>
          </a:p>
        </p:txBody>
      </p:sp>
      <p:sp>
        <p:nvSpPr>
          <p:cNvPr id="53" name="Shape 38"/>
          <p:cNvSpPr/>
          <p:nvPr/>
        </p:nvSpPr>
        <p:spPr>
          <a:xfrm>
            <a:off x="1190625" y="645795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9525">
            <a:solidFill>
              <a:srgbClr val="FEE2E2"/>
            </a:solidFill>
            <a:prstDash val="solid"/>
          </a:ln>
        </p:spPr>
        <p:txBody>
          <a:bodyPr/>
          <a:p/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6648450"/>
            <a:ext cx="133350" cy="13335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1562100" y="6629400"/>
            <a:ext cx="372903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现状</a:t>
            </a:r>
            <a:endParaRPr lang="en-US" sz="900" dirty="0"/>
          </a:p>
        </p:txBody>
      </p:sp>
      <p:sp>
        <p:nvSpPr>
          <p:cNvPr id="56" name="Text 40"/>
          <p:cNvSpPr txBox="1"/>
          <p:nvPr/>
        </p:nvSpPr>
        <p:spPr>
          <a:xfrm>
            <a:off x="1352550" y="684847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服务单一→三级产品线（冲刺/暑期/正课）</a:t>
            </a:r>
            <a:endParaRPr lang="en-US" sz="1300" dirty="0"/>
          </a:p>
        </p:txBody>
      </p:sp>
      <p:sp>
        <p:nvSpPr>
          <p:cNvPr id="57" name="Shape 41"/>
          <p:cNvSpPr/>
          <p:nvPr/>
        </p:nvSpPr>
        <p:spPr>
          <a:xfrm>
            <a:off x="1190625" y="769620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9525">
            <a:solidFill>
              <a:srgbClr val="DCFCE7"/>
            </a:solidFill>
            <a:prstDash val="solid"/>
          </a:ln>
        </p:spPr>
        <p:txBody>
          <a:bodyPr/>
          <a:p/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7886700"/>
            <a:ext cx="133350" cy="133350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1562100" y="7867650"/>
            <a:ext cx="552927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升级后</a:t>
            </a:r>
            <a:endParaRPr lang="en-US" sz="900" dirty="0"/>
          </a:p>
        </p:txBody>
      </p:sp>
      <p:sp>
        <p:nvSpPr>
          <p:cNvPr id="60" name="Text 43"/>
          <p:cNvSpPr txBox="1"/>
          <p:nvPr/>
        </p:nvSpPr>
        <p:spPr>
          <a:xfrm>
            <a:off x="1352550" y="808672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丰富教育产品线，提高客单价</a:t>
            </a:r>
            <a:endParaRPr lang="en-US" sz="1300" dirty="0"/>
          </a:p>
        </p:txBody>
      </p:sp>
      <p:sp>
        <p:nvSpPr>
          <p:cNvPr id="61" name="Shape 44"/>
          <p:cNvSpPr/>
          <p:nvPr/>
        </p:nvSpPr>
        <p:spPr>
          <a:xfrm>
            <a:off x="3429000" y="7353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0" y="7429500"/>
            <a:ext cx="114300" cy="152400"/>
          </a:xfrm>
          <a:prstGeom prst="rect">
            <a:avLst/>
          </a:prstGeom>
        </p:spPr>
      </p:pic>
      <p:sp>
        <p:nvSpPr>
          <p:cNvPr id="63" name="Shape 45"/>
          <p:cNvSpPr/>
          <p:nvPr/>
        </p:nvSpPr>
        <p:spPr>
          <a:xfrm>
            <a:off x="6515100" y="5610225"/>
            <a:ext cx="5257800" cy="31813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46"/>
          <p:cNvSpPr txBox="1"/>
          <p:nvPr/>
        </p:nvSpPr>
        <p:spPr>
          <a:xfrm>
            <a:off x="11260360" y="5467350"/>
            <a:ext cx="685800" cy="11430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375" dirty="0">
                <a:solidFill>
                  <a:srgbClr val="F8FAFC">
                    <a:alpha val="5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5</a:t>
            </a:r>
            <a:endParaRPr lang="en-US" sz="6600" dirty="0"/>
          </a:p>
        </p:txBody>
      </p:sp>
      <p:sp>
        <p:nvSpPr>
          <p:cNvPr id="65" name="Shape 47"/>
          <p:cNvSpPr/>
          <p:nvPr/>
        </p:nvSpPr>
        <p:spPr>
          <a:xfrm>
            <a:off x="6753225" y="58483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6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0381" y="5943600"/>
            <a:ext cx="166688" cy="190500"/>
          </a:xfrm>
          <a:prstGeom prst="rect">
            <a:avLst/>
          </a:prstGeom>
        </p:spPr>
      </p:pic>
      <p:sp>
        <p:nvSpPr>
          <p:cNvPr id="67" name="Text 48"/>
          <p:cNvSpPr txBox="1"/>
          <p:nvPr/>
        </p:nvSpPr>
        <p:spPr>
          <a:xfrm>
            <a:off x="7248525" y="5853113"/>
            <a:ext cx="1504474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数据困境</a:t>
            </a:r>
            <a:endParaRPr lang="en-US" sz="1800" dirty="0"/>
          </a:p>
        </p:txBody>
      </p:sp>
      <p:sp>
        <p:nvSpPr>
          <p:cNvPr id="68" name="Shape 49"/>
          <p:cNvSpPr/>
          <p:nvPr/>
        </p:nvSpPr>
        <p:spPr>
          <a:xfrm>
            <a:off x="6753225" y="645795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9525">
            <a:solidFill>
              <a:srgbClr val="FEE2E2"/>
            </a:solidFill>
            <a:prstDash val="solid"/>
          </a:ln>
        </p:spPr>
        <p:txBody>
          <a:bodyPr/>
          <a:p/>
        </p:txBody>
      </p:sp>
      <p:pic>
        <p:nvPicPr>
          <p:cNvPr id="69" name="Image 1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6648450"/>
            <a:ext cx="133350" cy="133350"/>
          </a:xfrm>
          <a:prstGeom prst="rect">
            <a:avLst/>
          </a:prstGeom>
        </p:spPr>
      </p:pic>
      <p:sp>
        <p:nvSpPr>
          <p:cNvPr id="70" name="Text 50"/>
          <p:cNvSpPr txBox="1"/>
          <p:nvPr/>
        </p:nvSpPr>
        <p:spPr>
          <a:xfrm>
            <a:off x="7124700" y="6629400"/>
            <a:ext cx="372903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现状</a:t>
            </a:r>
            <a:endParaRPr lang="en-US" sz="900" dirty="0"/>
          </a:p>
        </p:txBody>
      </p:sp>
      <p:sp>
        <p:nvSpPr>
          <p:cNvPr id="71" name="Text 51"/>
          <p:cNvSpPr txBox="1"/>
          <p:nvPr/>
        </p:nvSpPr>
        <p:spPr>
          <a:xfrm>
            <a:off x="6915150" y="684847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不了解学生真实学习问题</a:t>
            </a:r>
            <a:endParaRPr lang="en-US" sz="1300" dirty="0"/>
          </a:p>
        </p:txBody>
      </p:sp>
      <p:sp>
        <p:nvSpPr>
          <p:cNvPr id="72" name="Shape 52"/>
          <p:cNvSpPr/>
          <p:nvPr/>
        </p:nvSpPr>
        <p:spPr>
          <a:xfrm>
            <a:off x="6753225" y="769620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9525">
            <a:solidFill>
              <a:srgbClr val="DCFCE7"/>
            </a:solidFill>
            <a:prstDash val="solid"/>
          </a:ln>
        </p:spPr>
        <p:txBody>
          <a:bodyPr/>
          <a:p/>
        </p:txBody>
      </p:sp>
      <p:pic>
        <p:nvPicPr>
          <p:cNvPr id="73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7886700"/>
            <a:ext cx="133350" cy="133350"/>
          </a:xfrm>
          <a:prstGeom prst="rect">
            <a:avLst/>
          </a:prstGeom>
        </p:spPr>
      </p:pic>
      <p:sp>
        <p:nvSpPr>
          <p:cNvPr id="74" name="Text 53"/>
          <p:cNvSpPr txBox="1"/>
          <p:nvPr/>
        </p:nvSpPr>
        <p:spPr>
          <a:xfrm>
            <a:off x="7124700" y="7867650"/>
            <a:ext cx="552927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升级后</a:t>
            </a:r>
            <a:endParaRPr lang="en-US" sz="900" dirty="0"/>
          </a:p>
        </p:txBody>
      </p:sp>
      <p:sp>
        <p:nvSpPr>
          <p:cNvPr id="75" name="Text 54"/>
          <p:cNvSpPr txBox="1"/>
          <p:nvPr/>
        </p:nvSpPr>
        <p:spPr>
          <a:xfrm>
            <a:off x="6915150" y="808672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通过行为数据精准推荐匹配课程</a:t>
            </a:r>
            <a:endParaRPr lang="en-US" sz="1300" dirty="0"/>
          </a:p>
        </p:txBody>
      </p:sp>
      <p:sp>
        <p:nvSpPr>
          <p:cNvPr id="76" name="Shape 55"/>
          <p:cNvSpPr/>
          <p:nvPr/>
        </p:nvSpPr>
        <p:spPr>
          <a:xfrm>
            <a:off x="8991600" y="7353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7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0" y="7429500"/>
            <a:ext cx="114300" cy="152400"/>
          </a:xfrm>
          <a:prstGeom prst="rect">
            <a:avLst/>
          </a:prstGeom>
        </p:spPr>
      </p:pic>
      <p:sp>
        <p:nvSpPr>
          <p:cNvPr id="78" name="Shape 56"/>
          <p:cNvSpPr/>
          <p:nvPr/>
        </p:nvSpPr>
        <p:spPr>
          <a:xfrm>
            <a:off x="12077700" y="5610225"/>
            <a:ext cx="5257800" cy="31813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57"/>
          <p:cNvSpPr txBox="1"/>
          <p:nvPr/>
        </p:nvSpPr>
        <p:spPr>
          <a:xfrm>
            <a:off x="16816388" y="5467350"/>
            <a:ext cx="685800" cy="11430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375" dirty="0">
                <a:solidFill>
                  <a:srgbClr val="F8FAFC">
                    <a:alpha val="50000"/>
                  </a:srgbClr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6</a:t>
            </a:r>
            <a:endParaRPr lang="en-US" sz="6600" dirty="0"/>
          </a:p>
        </p:txBody>
      </p:sp>
      <p:sp>
        <p:nvSpPr>
          <p:cNvPr id="80" name="Shape 58"/>
          <p:cNvSpPr/>
          <p:nvPr/>
        </p:nvSpPr>
        <p:spPr>
          <a:xfrm>
            <a:off x="12315825" y="58483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1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11075" y="5943600"/>
            <a:ext cx="190500" cy="190500"/>
          </a:xfrm>
          <a:prstGeom prst="rect">
            <a:avLst/>
          </a:prstGeom>
        </p:spPr>
      </p:pic>
      <p:sp>
        <p:nvSpPr>
          <p:cNvPr id="82" name="Text 59"/>
          <p:cNvSpPr txBox="1"/>
          <p:nvPr/>
        </p:nvSpPr>
        <p:spPr>
          <a:xfrm>
            <a:off x="12811125" y="5853113"/>
            <a:ext cx="1504474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品牌困境</a:t>
            </a:r>
            <a:endParaRPr lang="en-US" sz="1800" dirty="0"/>
          </a:p>
        </p:txBody>
      </p:sp>
      <p:sp>
        <p:nvSpPr>
          <p:cNvPr id="83" name="Shape 60"/>
          <p:cNvSpPr/>
          <p:nvPr/>
        </p:nvSpPr>
        <p:spPr>
          <a:xfrm>
            <a:off x="12315825" y="645795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9525">
            <a:solidFill>
              <a:srgbClr val="FEE2E2"/>
            </a:solidFill>
            <a:prstDash val="solid"/>
          </a:ln>
        </p:spPr>
        <p:txBody>
          <a:bodyPr/>
          <a:p/>
        </p:txBody>
      </p:sp>
      <p:pic>
        <p:nvPicPr>
          <p:cNvPr id="84" name="Image 2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0" y="6648450"/>
            <a:ext cx="133350" cy="133350"/>
          </a:xfrm>
          <a:prstGeom prst="rect">
            <a:avLst/>
          </a:prstGeom>
        </p:spPr>
      </p:pic>
      <p:sp>
        <p:nvSpPr>
          <p:cNvPr id="85" name="Text 61"/>
          <p:cNvSpPr txBox="1"/>
          <p:nvPr/>
        </p:nvSpPr>
        <p:spPr>
          <a:xfrm>
            <a:off x="12687300" y="6629400"/>
            <a:ext cx="372903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现状</a:t>
            </a:r>
            <a:endParaRPr lang="en-US" sz="900" dirty="0"/>
          </a:p>
        </p:txBody>
      </p:sp>
      <p:sp>
        <p:nvSpPr>
          <p:cNvPr id="86" name="Text 62"/>
          <p:cNvSpPr txBox="1"/>
          <p:nvPr/>
        </p:nvSpPr>
        <p:spPr>
          <a:xfrm>
            <a:off x="12477750" y="684847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同质化竞争，品牌无差异化</a:t>
            </a:r>
            <a:endParaRPr lang="en-US" sz="1300" dirty="0"/>
          </a:p>
        </p:txBody>
      </p:sp>
      <p:sp>
        <p:nvSpPr>
          <p:cNvPr id="87" name="Shape 63"/>
          <p:cNvSpPr/>
          <p:nvPr/>
        </p:nvSpPr>
        <p:spPr>
          <a:xfrm>
            <a:off x="12315825" y="7696200"/>
            <a:ext cx="4781550" cy="85725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9525">
            <a:solidFill>
              <a:srgbClr val="DCFCE7"/>
            </a:solidFill>
            <a:prstDash val="solid"/>
          </a:ln>
        </p:spPr>
        <p:txBody>
          <a:bodyPr/>
          <a:p/>
        </p:txBody>
      </p:sp>
      <p:pic>
        <p:nvPicPr>
          <p:cNvPr id="88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0" y="7886700"/>
            <a:ext cx="133350" cy="133350"/>
          </a:xfrm>
          <a:prstGeom prst="rect">
            <a:avLst/>
          </a:prstGeom>
        </p:spPr>
      </p:pic>
      <p:sp>
        <p:nvSpPr>
          <p:cNvPr id="89" name="Text 64"/>
          <p:cNvSpPr txBox="1"/>
          <p:nvPr/>
        </p:nvSpPr>
        <p:spPr>
          <a:xfrm>
            <a:off x="12687300" y="7867650"/>
            <a:ext cx="552927" cy="1619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升级后</a:t>
            </a:r>
            <a:endParaRPr lang="en-US" sz="900" dirty="0"/>
          </a:p>
        </p:txBody>
      </p:sp>
      <p:sp>
        <p:nvSpPr>
          <p:cNvPr id="90" name="Text 65"/>
          <p:cNvSpPr txBox="1"/>
          <p:nvPr/>
        </p:nvSpPr>
        <p:spPr>
          <a:xfrm>
            <a:off x="12477750" y="8086725"/>
            <a:ext cx="56078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协会背书+专业认证，品牌价值凸显</a:t>
            </a:r>
            <a:endParaRPr lang="en-US" sz="1300" dirty="0"/>
          </a:p>
        </p:txBody>
      </p:sp>
      <p:sp>
        <p:nvSpPr>
          <p:cNvPr id="91" name="Shape 66"/>
          <p:cNvSpPr/>
          <p:nvPr/>
        </p:nvSpPr>
        <p:spPr>
          <a:xfrm>
            <a:off x="14554200" y="7353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2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9450" y="7429500"/>
            <a:ext cx="114300" cy="152400"/>
          </a:xfrm>
          <a:prstGeom prst="rect">
            <a:avLst/>
          </a:prstGeom>
        </p:spPr>
      </p:pic>
      <p:sp>
        <p:nvSpPr>
          <p:cNvPr id="93" name="Shape 67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Shape 68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" name="Shape 69"/>
          <p:cNvSpPr/>
          <p:nvPr/>
        </p:nvSpPr>
        <p:spPr>
          <a:xfrm>
            <a:off x="952500" y="714375"/>
            <a:ext cx="76200" cy="30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" name="Text 70"/>
          <p:cNvSpPr txBox="1"/>
          <p:nvPr/>
        </p:nvSpPr>
        <p:spPr>
          <a:xfrm>
            <a:off x="1181100" y="571500"/>
            <a:ext cx="6918008" cy="5905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kern="0" spc="72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七、赋能解决的核心痛点</a:t>
            </a:r>
            <a:endParaRPr lang="en-US" sz="3100" dirty="0"/>
          </a:p>
        </p:txBody>
      </p:sp>
      <p:sp>
        <p:nvSpPr>
          <p:cNvPr id="97" name="Text 71"/>
          <p:cNvSpPr txBox="1"/>
          <p:nvPr/>
        </p:nvSpPr>
        <p:spPr>
          <a:xfrm>
            <a:off x="952500" y="1238250"/>
            <a:ext cx="6703218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直击行业痛点，提供结构化解决方案</a:t>
            </a:r>
            <a:endParaRPr lang="en-US" sz="1500" dirty="0"/>
          </a:p>
        </p:txBody>
      </p:sp>
      <p:sp>
        <p:nvSpPr>
          <p:cNvPr id="98" name="Text 72"/>
          <p:cNvSpPr txBox="1"/>
          <p:nvPr/>
        </p:nvSpPr>
        <p:spPr>
          <a:xfrm>
            <a:off x="14499908" y="981075"/>
            <a:ext cx="285464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</a:t>
            </a:r>
            <a:endParaRPr lang="en-US" sz="1300" dirty="0"/>
          </a:p>
        </p:txBody>
      </p:sp>
      <p:sp>
        <p:nvSpPr>
          <p:cNvPr id="99" name="Text 73"/>
          <p:cNvSpPr txBox="1"/>
          <p:nvPr/>
        </p:nvSpPr>
        <p:spPr>
          <a:xfrm>
            <a:off x="14551342" y="1285875"/>
            <a:ext cx="280320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中小学托管协同发展专委会</a:t>
            </a:r>
            <a:endParaRPr lang="en-US" sz="1100" dirty="0"/>
          </a:p>
        </p:txBody>
      </p:sp>
      <p:sp>
        <p:nvSpPr>
          <p:cNvPr id="100" name="Text 74"/>
          <p:cNvSpPr txBox="1"/>
          <p:nvPr/>
        </p:nvSpPr>
        <p:spPr>
          <a:xfrm>
            <a:off x="952500" y="9744075"/>
            <a:ext cx="488632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/>
            </a:r>
            <a:endParaRPr lang="en-US" sz="1100" dirty="0"/>
          </a:p>
        </p:txBody>
      </p:sp>
      <p:sp>
        <p:nvSpPr>
          <p:cNvPr id="101" name="Text 75"/>
          <p:cNvSpPr txBox="1"/>
          <p:nvPr/>
        </p:nvSpPr>
        <p:spPr>
          <a:xfrm>
            <a:off x="16895731" y="9763125"/>
            <a:ext cx="63007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7 / 9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190750"/>
            <a:ext cx="257175" cy="342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62075" y="2124075"/>
            <a:ext cx="1954530" cy="4667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kern="0" spc="27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加入条件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952500" y="2981325"/>
            <a:ext cx="7029450" cy="8162925"/>
          </a:xfrm>
          <a:prstGeom prst="roundRect">
            <a:avLst>
              <a:gd name="adj" fmla="val 21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343025" y="3409950"/>
            <a:ext cx="390525" cy="381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343025" y="3409950"/>
            <a:ext cx="390525" cy="38100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14525" y="3371850"/>
            <a:ext cx="4706303" cy="3905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合法注册的中小学课后托管机构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343025" y="4133850"/>
            <a:ext cx="390525" cy="381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343025" y="4133850"/>
            <a:ext cx="390525" cy="38100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914525" y="4095750"/>
            <a:ext cx="4037647" cy="3905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认同专委会宗旨与合作理念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43025" y="4857750"/>
            <a:ext cx="390525" cy="381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343025" y="4857750"/>
            <a:ext cx="390525" cy="38100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14525" y="4819650"/>
            <a:ext cx="5040630" cy="3905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有转型升级、提升服务品质的意愿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43025" y="5581650"/>
            <a:ext cx="390525" cy="381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343025" y="5581650"/>
            <a:ext cx="390525" cy="38100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914525" y="5543550"/>
            <a:ext cx="4706303" cy="3905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愿意遵守专委会章程与行业标准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343025" y="6267450"/>
            <a:ext cx="6248400" cy="343852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343025" y="6271756"/>
            <a:ext cx="6248400" cy="914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6581775"/>
            <a:ext cx="6248400" cy="3124200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219075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39250" y="2124075"/>
            <a:ext cx="1954530" cy="4667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kern="0" spc="27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加入流程</a:t>
            </a:r>
            <a:endParaRPr lang="en-US" sz="2300" dirty="0"/>
          </a:p>
        </p:txBody>
      </p:sp>
      <p:sp>
        <p:nvSpPr>
          <p:cNvPr id="23" name="Shape 18"/>
          <p:cNvSpPr/>
          <p:nvPr/>
        </p:nvSpPr>
        <p:spPr>
          <a:xfrm>
            <a:off x="8743950" y="336708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B3B60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075" y="3605212"/>
            <a:ext cx="285750" cy="28575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810750" y="3133725"/>
            <a:ext cx="752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10048875" y="3371850"/>
            <a:ext cx="4238625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2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1. 申请提交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0048875" y="3790950"/>
            <a:ext cx="4551998" cy="3333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填写会员申请表，提交机构基本信息</a:t>
            </a:r>
            <a:endParaRPr lang="en-US" sz="1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4500" y="3633787"/>
            <a:ext cx="142875" cy="2286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743950" y="502443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B3B60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075" y="5262562"/>
            <a:ext cx="285750" cy="28575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810750" y="4791075"/>
            <a:ext cx="752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24"/>
          <p:cNvSpPr txBox="1"/>
          <p:nvPr/>
        </p:nvSpPr>
        <p:spPr>
          <a:xfrm>
            <a:off x="10048875" y="5029200"/>
            <a:ext cx="3452812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2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2. 资格审核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10048875" y="5448300"/>
            <a:ext cx="3703320" cy="3333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专委会审核机构资质与匹配度</a:t>
            </a:r>
            <a:endParaRPr lang="en-US" sz="14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4500" y="5291137"/>
            <a:ext cx="142875" cy="2286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8743950" y="668178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B3B60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4264" y="6919912"/>
            <a:ext cx="321469" cy="28575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9810750" y="6448425"/>
            <a:ext cx="752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28"/>
          <p:cNvSpPr txBox="1"/>
          <p:nvPr/>
        </p:nvSpPr>
        <p:spPr>
          <a:xfrm>
            <a:off x="10048875" y="6686550"/>
            <a:ext cx="3452812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2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3. 协议签署</a:t>
            </a:r>
            <a:endParaRPr lang="en-US" sz="1800" dirty="0"/>
          </a:p>
        </p:txBody>
      </p:sp>
      <p:sp>
        <p:nvSpPr>
          <p:cNvPr id="39" name="Text 29"/>
          <p:cNvSpPr txBox="1"/>
          <p:nvPr/>
        </p:nvSpPr>
        <p:spPr>
          <a:xfrm>
            <a:off x="10048875" y="7105650"/>
            <a:ext cx="3703320" cy="3333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签订会员合作协议与保密协议</a:t>
            </a:r>
            <a:endParaRPr lang="en-US" sz="14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4500" y="6948487"/>
            <a:ext cx="142875" cy="228600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8743950" y="833913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B3B60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6356" y="8577262"/>
            <a:ext cx="357188" cy="285750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9810750" y="8105775"/>
            <a:ext cx="752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32"/>
          <p:cNvSpPr txBox="1"/>
          <p:nvPr/>
        </p:nvSpPr>
        <p:spPr>
          <a:xfrm>
            <a:off x="10048875" y="8343900"/>
            <a:ext cx="3190875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2" dirty="0">
                <a:solidFill>
                  <a:srgbClr val="1E293B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4. 启动培训</a:t>
            </a:r>
            <a:endParaRPr lang="en-US" sz="1800" dirty="0"/>
          </a:p>
        </p:txBody>
      </p:sp>
      <p:sp>
        <p:nvSpPr>
          <p:cNvPr id="45" name="Text 33"/>
          <p:cNvSpPr txBox="1"/>
          <p:nvPr/>
        </p:nvSpPr>
        <p:spPr>
          <a:xfrm>
            <a:off x="10048875" y="8763000"/>
            <a:ext cx="3420427" cy="3333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参加专委会组织的启动培训</a:t>
            </a:r>
            <a:endParaRPr lang="en-US" sz="14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4500" y="8605837"/>
            <a:ext cx="142875" cy="228600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8743950" y="999648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6356" y="10234612"/>
            <a:ext cx="357188" cy="285750"/>
          </a:xfrm>
          <a:prstGeom prst="rect">
            <a:avLst/>
          </a:prstGeom>
        </p:spPr>
      </p:pic>
      <p:sp>
        <p:nvSpPr>
          <p:cNvPr id="49" name="Shape 35"/>
          <p:cNvSpPr/>
          <p:nvPr/>
        </p:nvSpPr>
        <p:spPr>
          <a:xfrm>
            <a:off x="9810750" y="9763125"/>
            <a:ext cx="752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36"/>
          <p:cNvSpPr txBox="1"/>
          <p:nvPr/>
        </p:nvSpPr>
        <p:spPr>
          <a:xfrm>
            <a:off x="10048875" y="10001250"/>
            <a:ext cx="4500563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2" dirty="0">
                <a:solidFill>
                  <a:srgbClr val="E67E22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5. 正式合作</a:t>
            </a:r>
            <a:endParaRPr lang="en-US" sz="1800" dirty="0"/>
          </a:p>
        </p:txBody>
      </p:sp>
      <p:sp>
        <p:nvSpPr>
          <p:cNvPr id="51" name="Text 37"/>
          <p:cNvSpPr txBox="1"/>
          <p:nvPr/>
        </p:nvSpPr>
        <p:spPr>
          <a:xfrm>
            <a:off x="10048875" y="10420350"/>
            <a:ext cx="4834890" cy="3333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按三阶段模型启动合作，获得会员权益</a:t>
            </a:r>
            <a:endParaRPr lang="en-US" sz="14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4500" y="10263187"/>
            <a:ext cx="142875" cy="228600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9115425" y="3362325"/>
            <a:ext cx="38100" cy="7400925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Shape 39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40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41"/>
          <p:cNvSpPr/>
          <p:nvPr/>
        </p:nvSpPr>
        <p:spPr>
          <a:xfrm>
            <a:off x="952500" y="714375"/>
            <a:ext cx="76200" cy="30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42"/>
          <p:cNvSpPr txBox="1"/>
          <p:nvPr/>
        </p:nvSpPr>
        <p:spPr>
          <a:xfrm>
            <a:off x="1181100" y="571500"/>
            <a:ext cx="5657850" cy="5905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kern="0" spc="72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八、加入条件与流程</a:t>
            </a:r>
            <a:endParaRPr lang="en-US" sz="3100" dirty="0"/>
          </a:p>
        </p:txBody>
      </p:sp>
      <p:sp>
        <p:nvSpPr>
          <p:cNvPr id="58" name="Text 43"/>
          <p:cNvSpPr txBox="1"/>
          <p:nvPr/>
        </p:nvSpPr>
        <p:spPr>
          <a:xfrm>
            <a:off x="952500" y="1238250"/>
            <a:ext cx="6107907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8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携手共进，规范化准入标准与高效对接流程</a:t>
            </a:r>
            <a:endParaRPr lang="en-US" sz="1500" dirty="0"/>
          </a:p>
        </p:txBody>
      </p:sp>
      <p:sp>
        <p:nvSpPr>
          <p:cNvPr id="59" name="Text 44"/>
          <p:cNvSpPr txBox="1"/>
          <p:nvPr/>
        </p:nvSpPr>
        <p:spPr>
          <a:xfrm>
            <a:off x="14499908" y="981075"/>
            <a:ext cx="285464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</a:t>
            </a:r>
            <a:endParaRPr lang="en-US" sz="1300" dirty="0"/>
          </a:p>
        </p:txBody>
      </p:sp>
      <p:sp>
        <p:nvSpPr>
          <p:cNvPr id="60" name="Text 45"/>
          <p:cNvSpPr txBox="1"/>
          <p:nvPr/>
        </p:nvSpPr>
        <p:spPr>
          <a:xfrm>
            <a:off x="14551342" y="1285875"/>
            <a:ext cx="280320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中小学托管协同发展专委会</a:t>
            </a:r>
            <a:endParaRPr lang="en-US" sz="1100" dirty="0"/>
          </a:p>
        </p:txBody>
      </p:sp>
      <p:sp>
        <p:nvSpPr>
          <p:cNvPr id="61" name="Text 46"/>
          <p:cNvSpPr txBox="1"/>
          <p:nvPr/>
        </p:nvSpPr>
        <p:spPr>
          <a:xfrm>
            <a:off x="952500" y="12096750"/>
            <a:ext cx="488632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/>
            </a:r>
            <a:endParaRPr lang="en-US" sz="1100" dirty="0"/>
          </a:p>
        </p:txBody>
      </p:sp>
      <p:sp>
        <p:nvSpPr>
          <p:cNvPr id="62" name="Text 47"/>
          <p:cNvSpPr txBox="1"/>
          <p:nvPr/>
        </p:nvSpPr>
        <p:spPr>
          <a:xfrm>
            <a:off x="16885444" y="12115800"/>
            <a:ext cx="64293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8 / 9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52500" y="762000"/>
            <a:ext cx="10060781" cy="4381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kern="0" spc="54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九、专委会组织架构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52500" y="1581150"/>
            <a:ext cx="7962900" cy="6181725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43025" y="1971675"/>
            <a:ext cx="1285875" cy="419100"/>
          </a:xfrm>
          <a:prstGeom prst="roundRect">
            <a:avLst>
              <a:gd name="adj" fmla="val 18182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343025" y="1971675"/>
            <a:ext cx="1607344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kern="0" spc="15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指导单位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95425" y="2543175"/>
            <a:ext cx="8834438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石家庄市青年创业者协会理事会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495425" y="3305175"/>
            <a:ext cx="3324225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514018" y="3305175"/>
            <a:ext cx="914" cy="100965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762125" y="3305175"/>
            <a:ext cx="386953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kern="0" spc="15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专家顾问团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762125" y="3648075"/>
            <a:ext cx="3076575" cy="6667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教育专家、心理学专家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行业专家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00650" y="3305175"/>
            <a:ext cx="3324225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219243" y="3305175"/>
            <a:ext cx="914" cy="1009650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67350" y="3305175"/>
            <a:ext cx="386953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kern="0" spc="15" dirty="0">
                <a:solidFill>
                  <a:srgbClr val="64748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执行委员会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67350" y="3648075"/>
            <a:ext cx="3076575" cy="6667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专委会主任、副主任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秘书长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95425" y="4619625"/>
            <a:ext cx="7029450" cy="215265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F1F5F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733550" y="4857750"/>
            <a:ext cx="8251031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kern="0" spc="15" dirty="0">
                <a:solidFill>
                  <a:srgbClr val="1E293B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专业委员会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33550" y="5276850"/>
            <a:ext cx="32194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331118" y="5276850"/>
            <a:ext cx="4024312" cy="5524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产品研发委员会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86350" y="5276850"/>
            <a:ext cx="32194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683919" y="5276850"/>
            <a:ext cx="4024312" cy="5524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师资培训委员会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33550" y="5981700"/>
            <a:ext cx="32194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331118" y="5981700"/>
            <a:ext cx="4024312" cy="5524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标准制定委员会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86350" y="5981700"/>
            <a:ext cx="32194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683919" y="5981700"/>
            <a:ext cx="4024312" cy="5524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会员服务委员会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762000"/>
            <a:ext cx="10048875" cy="4381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kern="0" spc="54" dirty="0">
                <a:solidFill>
                  <a:srgbClr val="0B3B60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>十、联系我们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9372600" y="1581150"/>
            <a:ext cx="7962900" cy="6181725"/>
          </a:xfrm>
          <a:prstGeom prst="roundRect">
            <a:avLst>
              <a:gd name="adj" fmla="val 2465"/>
            </a:avLst>
          </a:prstGeom>
          <a:solidFill>
            <a:srgbClr val="0B3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00" y="6048375"/>
            <a:ext cx="1905000" cy="19050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9829800" y="2038350"/>
            <a:ext cx="7048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9829800" y="2928481"/>
            <a:ext cx="7048500" cy="914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9829800" y="2038350"/>
            <a:ext cx="888206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kern="0" spc="15" dirty="0">
                <a:solidFill>
                  <a:srgbClr val="BFDBFE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专委会秘书处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829800" y="2381250"/>
            <a:ext cx="9212580" cy="3905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 中小学托管协同发展专委会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9829800" y="33051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3457575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0591800" y="3238500"/>
            <a:ext cx="2333625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kern="0" spc="14" dirty="0">
                <a:solidFill>
                  <a:srgbClr val="BFDBFE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合作咨询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10591800" y="3514725"/>
            <a:ext cx="1105852" cy="39624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刘老师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11475339" y="3514725"/>
            <a:ext cx="1311593" cy="39624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[电话/微信]</a:t>
            </a:r>
            <a:endParaRPr lang="en-US" sz="17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410075"/>
            <a:ext cx="171450" cy="17145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10077450" y="4391025"/>
            <a:ext cx="938689" cy="2000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官方网站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9829800" y="4667250"/>
            <a:ext cx="423862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[待完善]</a:t>
            </a:r>
            <a:endParaRPr lang="en-US" sz="13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6450" y="4410075"/>
            <a:ext cx="171450" cy="17145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3754100" y="4391025"/>
            <a:ext cx="938689" cy="2000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电子邮箱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3506450" y="4667250"/>
            <a:ext cx="423862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[待完善]</a:t>
            </a:r>
            <a:endParaRPr lang="en-US" sz="13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5324475"/>
            <a:ext cx="128588" cy="17145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0034587" y="5305425"/>
            <a:ext cx="938689" cy="20002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办公地址</a:t>
            </a:r>
            <a:endParaRPr lang="en-US" sz="1100" dirty="0"/>
          </a:p>
        </p:txBody>
      </p:sp>
      <p:sp>
        <p:nvSpPr>
          <p:cNvPr id="46" name="Text 39"/>
          <p:cNvSpPr txBox="1"/>
          <p:nvPr/>
        </p:nvSpPr>
        <p:spPr>
          <a:xfrm>
            <a:off x="9829800" y="5581650"/>
            <a:ext cx="885825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[待完善]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-1526381" y="8372475"/>
            <a:ext cx="21483638" cy="638175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600" b="1" kern="0" spc="210" dirty="0">
                <a:solidFill>
                  <a:srgbClr val="E67E22"/>
                </a:solidFill>
                <a:latin typeface="OPPO Sans 4.0" pitchFamily="34" charset="0"/>
                <a:ea typeface="OPPO Sans 4.0" pitchFamily="34" charset="-122"/>
                <a:cs typeface="OPPO Sans 4.0" pitchFamily="34" charset="-120"/>
              </a:rPr>
              <a:t/>
            </a:r>
            <a:endParaRPr lang="en-US" sz="3600" dirty="0"/>
          </a:p>
        </p:txBody>
      </p:sp>
      <p:sp>
        <p:nvSpPr>
          <p:cNvPr id="48" name="Shape 41"/>
          <p:cNvSpPr/>
          <p:nvPr/>
        </p:nvSpPr>
        <p:spPr>
          <a:xfrm>
            <a:off x="5358099" y="9339263"/>
            <a:ext cx="914400" cy="9525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2"/>
          <p:cNvSpPr txBox="1"/>
          <p:nvPr/>
        </p:nvSpPr>
        <p:spPr>
          <a:xfrm>
            <a:off x="5468112" y="9163050"/>
            <a:ext cx="7380923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3B60"/>
                </a:solidFill>
                <a:latin typeface="Noto Sans" panose="020B0502040504020204" pitchFamily="34" charset="0"/>
                <a:ea typeface="Noto Sans" panose="020B0502040504020204" pitchFamily="34" charset="-122"/>
                <a:cs typeface="Noto Sans" panose="020B0502040504020204" pitchFamily="34" charset="-120"/>
              </a:rPr>
              <a:t>石家庄市青年创业者协会 · 中小学托管协同发展专委会</a:t>
            </a:r>
            <a:endParaRPr lang="en-US" sz="1500" dirty="0"/>
          </a:p>
        </p:txBody>
      </p:sp>
      <p:sp>
        <p:nvSpPr>
          <p:cNvPr id="50" name="Shape 43"/>
          <p:cNvSpPr/>
          <p:nvPr/>
        </p:nvSpPr>
        <p:spPr>
          <a:xfrm>
            <a:off x="12015311" y="9339263"/>
            <a:ext cx="914400" cy="9525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4"/>
          <p:cNvSpPr/>
          <p:nvPr/>
        </p:nvSpPr>
        <p:spPr>
          <a:xfrm>
            <a:off x="12573000" y="-1905000"/>
            <a:ext cx="7620000" cy="7620000"/>
          </a:xfrm>
          <a:prstGeom prst="roundRect">
            <a:avLst>
              <a:gd name="adj" fmla="val 50000"/>
            </a:avLst>
          </a:prstGeom>
          <a:solidFill>
            <a:srgbClr val="0B3B6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45"/>
          <p:cNvSpPr/>
          <p:nvPr/>
        </p:nvSpPr>
        <p:spPr>
          <a:xfrm>
            <a:off x="-952500" y="5524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E67E2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2307</Words>
  <Application>WPS 演示</Application>
  <PresentationFormat>On-screen Show (16:9)</PresentationFormat>
  <Paragraphs>459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2" baseType="lpstr">
      <vt:lpstr>Arial</vt:lpstr>
      <vt:lpstr>宋体</vt:lpstr>
      <vt:lpstr>Wingdings</vt:lpstr>
      <vt:lpstr>DejaVu Sans</vt:lpstr>
      <vt:lpstr>OPPO Sans 4.0</vt:lpstr>
      <vt:lpstr>C059</vt:lpstr>
      <vt:lpstr>OPPO Sans 4.0</vt:lpstr>
      <vt:lpstr>OPPO Sans 4.0</vt:lpstr>
      <vt:lpstr>Noto Sans</vt:lpstr>
      <vt:lpstr>Noto Sans</vt:lpstr>
      <vt:lpstr>Noto Sans</vt:lpstr>
      <vt:lpstr>Inter</vt:lpstr>
      <vt:lpstr>Inter</vt:lpstr>
      <vt:lpstr>Inter</vt:lpstr>
      <vt:lpstr>汉仪中圆B5</vt:lpstr>
      <vt:lpstr>宋体</vt:lpstr>
      <vt:lpstr>Noto Serif CJK SC</vt:lpstr>
      <vt:lpstr>Calibri</vt:lpstr>
      <vt:lpstr>微软雅黑</vt:lpstr>
      <vt:lpstr>Droid Sans Fallback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Seede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托管专委会介绍 - 第1页</dc:title>
  <dc:creator>Made with Seede AI</dc:creator>
  <dc:subject>Presentation</dc:subject>
  <cp:lastModifiedBy>幽灵刘</cp:lastModifiedBy>
  <cp:revision>2</cp:revision>
  <dcterms:created xsi:type="dcterms:W3CDTF">2026-05-14T16:51:50Z</dcterms:created>
  <dcterms:modified xsi:type="dcterms:W3CDTF">2026-05-14T16:51:50Z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94B58A6E2903FC19A6FD056A9398BBBA_43</vt:lpwstr>
  </property>
  <property fmtid="{D5CDD505-2E9C-101B-9397-08002B2CF9AE}" pid="3" name="KSOProductBuildVer">
    <vt:lpwstr>2052-12.1.2.25882</vt:lpwstr>
  </property>
</Properties>
</file>